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-20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68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1B3A5C">
              <a:alpha val="70000"/>
            </a:srgbClr>
          </a:solidFill>
          <a:ln w="254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1463040" cy="1463040"/>
          </a:xfrm>
          <a:prstGeom prst="ellipse">
            <a:avLst/>
          </a:prstGeom>
          <a:solidFill>
            <a:srgbClr val="1E5F8E">
              <a:alpha val="50000"/>
            </a:srgbClr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3474720"/>
            <a:ext cx="1828800" cy="1828800"/>
          </a:xfrm>
          <a:prstGeom prst="ellipse">
            <a:avLst/>
          </a:prstGeom>
          <a:solidFill>
            <a:srgbClr val="1B3A5C">
              <a:alpha val="60000"/>
            </a:srgbClr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SupplyChain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DApp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Ethereum Supply-Chain Tracking on the Blockchain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93008"/>
            <a:ext cx="411480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 —  Semester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Traditional Supply Chains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09728" cy="155448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75488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Mutable Ledgers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supply chains rely on editable spreadsheets and emails — any party can alter entries.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109728" cy="155448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910328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Accountability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134416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party can backdate entries, dispute shipments, or deny handoffs without consequence.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109728" cy="155448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75488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Real-World 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1272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counterfeits entering circulation, lost batches, costly legal disputes between parties.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109728" cy="155448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910328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Root Cause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0328" y="31272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the spreadsheet" — a mutable, centralised ledger with no cryptographic proof of who did what and when.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cryptographic proof of who did what, and when.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Blockchain-Powered Supply 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645920"/>
          </a:xfrm>
          <a:prstGeom prst="rect">
            <a:avLst/>
          </a:prstGeom>
          <a:solidFill>
            <a:srgbClr val="152B42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 History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product lifecycle — every state change is append-only, no rewrites, no deletions.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206240" cy="1645920"/>
          </a:xfrm>
          <a:prstGeom prst="rect">
            <a:avLst/>
          </a:prstGeom>
          <a:solidFill>
            <a:srgbClr val="152B42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58968" y="1024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3752" y="15087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wallet addresses can act. OpenZeppelin AccessControl enforces this at the EVM level.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06240" cy="1645920"/>
          </a:xfrm>
          <a:prstGeom prst="rect">
            <a:avLst/>
          </a:prstGeom>
          <a:solidFill>
            <a:srgbClr val="152B42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898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ECDSA Receipts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" y="33832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chain-of-custody — shippers sign receipts; the contract recovers and verifies the signer.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206240" cy="1645920"/>
          </a:xfrm>
          <a:prstGeom prst="rect">
            <a:avLst/>
          </a:prstGeom>
          <a:solidFill>
            <a:srgbClr val="152B42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58968" y="2898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Transparency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73752" y="33832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full provenance without login — no APIs, no permission, just the contract address.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4988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"Verify the chain" — not "trust the spreadsheet"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234440" cy="100584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8961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+ Vite + TypeScript + TailwindCSS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325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Dashboard  |  Register  |  Timeline  |  Scan  | 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457200" cy="10972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8595360" cy="1005840"/>
          </a:xfrm>
          <a:prstGeom prst="rect">
            <a:avLst/>
          </a:prstGeom>
          <a:solidFill>
            <a:srgbClr val="D1F2E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123444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GLUE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0848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wagmi v2 + viem v2 + RainbowKit + React Query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5146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reads &amp; writes  |  MetaMask wallet signing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017520"/>
            <a:ext cx="457200" cy="10972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859536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123444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274320" y="32004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EVM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2735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Hardhat localhost (31337)  or  Sepolia Testnet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3703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SupplyChain.sol  —  OpenZeppelin AccessControl + ECDSA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" y="4434840"/>
            <a:ext cx="12344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257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97380" y="4434840"/>
            <a:ext cx="12344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18973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2.28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8980" y="4434840"/>
            <a:ext cx="12344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2689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40580" y="4434840"/>
            <a:ext cx="12344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6405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wagmi v2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12180" y="4434840"/>
            <a:ext cx="12344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0121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RainbowKit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83780" y="4434840"/>
            <a:ext cx="12344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73837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Contract: SupplyChain.sol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Basics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1952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0.8.26, EVM Cancun, optimizer 200 runs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1952" y="18653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 AccessControl + ECDSA + MessageHashUtils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01952" y="23408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batch, metadataCID, manufacturer, currentOwner, state, createdAt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HistoryEntry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1952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actor, timestamp, location, signature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_products | _history (append-only) | _shipNonce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01952" y="3767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ProductNotFound, InvalidTransition, NotCurrentOwner, InvalidSignature, ZeroAddress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905256"/>
            <a:ext cx="4297680" cy="1920240"/>
          </a:xfrm>
          <a:prstGeom prst="rect">
            <a:avLst/>
          </a:prstGeom>
          <a:solidFill>
            <a:srgbClr val="0D1F3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736592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Info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36592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664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0x5FbDB2315678afecb367f032d93F642f64180aa3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993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993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localhost  (chainId 31337)  |  Sepolia optional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971800"/>
            <a:ext cx="4297680" cy="18745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736592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⛽  Deployment Gas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349300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1,861,706 gas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36592" y="4069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of the 60M block gas limit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6-State Product Lifecycle (Strictly Linear)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1170432" cy="822960"/>
          </a:xfrm>
          <a:prstGeom prst="rect">
            <a:avLst/>
          </a:prstGeom>
          <a:solidFill>
            <a:srgbClr val="1E5F8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01168" y="8961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89888" y="1252728"/>
            <a:ext cx="109728" cy="9144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527048" y="896112"/>
            <a:ext cx="1170432" cy="822960"/>
          </a:xfrm>
          <a:prstGeom prst="rect">
            <a:avLst/>
          </a:prstGeom>
          <a:solidFill>
            <a:srgbClr val="1A6EA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527048" y="8961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5768" y="1252728"/>
            <a:ext cx="109728" cy="9144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852928" y="896112"/>
            <a:ext cx="1170432" cy="822960"/>
          </a:xfrm>
          <a:prstGeom prst="rect">
            <a:avLst/>
          </a:prstGeom>
          <a:solidFill>
            <a:srgbClr val="155E8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2852928" y="8961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41648" y="1252728"/>
            <a:ext cx="109728" cy="9144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178808" y="896112"/>
            <a:ext cx="1170432" cy="822960"/>
          </a:xfrm>
          <a:prstGeom prst="rect">
            <a:avLst/>
          </a:prstGeom>
          <a:solidFill>
            <a:srgbClr val="0E4E7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178808" y="8961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67528" y="1252728"/>
            <a:ext cx="109728" cy="9144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504688" y="896112"/>
            <a:ext cx="1170432" cy="822960"/>
          </a:xfrm>
          <a:prstGeom prst="rect">
            <a:avLst/>
          </a:prstGeom>
          <a:solidFill>
            <a:srgbClr val="093D5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504688" y="8961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93408" y="1252728"/>
            <a:ext cx="109728" cy="9144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830568" y="896112"/>
            <a:ext cx="1170432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830568" y="8961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" y="18470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registerProduct()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81328" y="18470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81328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shipToDistributor()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07208" y="18470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07208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receiveAsDistributor()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33088" y="18470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33088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shipToRetailer()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58968" y="18470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58968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receiveAsRetailer()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4848" y="18470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84848" y="21031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markSold()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514600"/>
            <a:ext cx="8595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57200" y="2606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Invariants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3035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enforced by _requireTransition(from, to) — out-of-order calls revert with InvalidTransition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is terminal — no un-sell, no re-ship, no further state changes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6941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transition appends one HistoryEntry to an append-only array (never deleted)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currentOwner changes on every shipToX call — only the named recipient can receive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3525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_shipNonce increments per ship — receipt signatures bind to one specific leg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Roles — OpenZeppelin AccessControl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194560" cy="38404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2926080" cy="38404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587752" y="82296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68112" y="822960"/>
            <a:ext cx="2926080" cy="38404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541264" y="82296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07008"/>
            <a:ext cx="219456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514600" y="1207008"/>
            <a:ext cx="292608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468112" y="1207008"/>
            <a:ext cx="292608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47472" y="1316736"/>
            <a:ext cx="1965960" cy="384048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47472" y="131673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DEFAULT_ADMIN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7752" y="1280160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grantRole, revokeRole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41264" y="1280160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— should be multisig in production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865376"/>
            <a:ext cx="2194560" cy="640080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514600" y="1865376"/>
            <a:ext cx="2926080" cy="640080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5468112" y="1865376"/>
            <a:ext cx="2926080" cy="640080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347472" y="1975104"/>
            <a:ext cx="1965960" cy="38404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47472" y="19751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87752" y="1938528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registerProduct, shipToDistributor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1264" y="1938528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becomes initial product owner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23744"/>
            <a:ext cx="219456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2514600" y="2523744"/>
            <a:ext cx="292608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5468112" y="2523744"/>
            <a:ext cx="292608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347472" y="2633472"/>
            <a:ext cx="19659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47472" y="2633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87752" y="2596896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receiveAsDistributor, shipToRetailer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41264" y="2596896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validated at ship time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182112"/>
            <a:ext cx="2194560" cy="640080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2514600" y="3182112"/>
            <a:ext cx="2926080" cy="640080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5468112" y="3182112"/>
            <a:ext cx="2926080" cy="640080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347472" y="3291840"/>
            <a:ext cx="1965960" cy="38404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347472" y="32918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87752" y="325526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receiveAsRetailer, markSold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41264" y="325526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actor — Sold is final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0D1F35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457200" y="3749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Two-Key Security Gate (per write function)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Role check (onlyRole)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rejects outsiders and wrong-stage roles       </a:t>
            </a:r>
            <a:r>
              <a:rPr lang="en-US" sz="12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Ownership check (_requireOwner)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rejects stale owners after a product is transferred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09728" cy="2057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75488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ECDSA Signed Receipts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5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keccak256(chainId, contractAddress, productId,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5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receiver, nonce, contextTag)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29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tags: RECEIVE_FROM_MFG | RECEIVE_FROM_DIST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4709160" y="841248"/>
            <a:ext cx="109728" cy="205740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910328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Replay Protection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to: chain ID + contract address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productId + receiver + nonce + context tag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1929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replay across: chains, contracts,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2231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legs, or rounds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109728" cy="17830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75488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Threat Model Addressed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34930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Unauthorised actions → double-gated (role + ownership)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8221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Front-running redirects → recipient locked at shipToX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415137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Compromised role key → admin can revoke anytime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109728" cy="1783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910328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Intentional Omissions (by design)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0328" y="34930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Pausable — no ether, no external calls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38221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ReentrancyGuard — structurally impossible (no .call)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0328" y="415137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Upgradeability — history must be immutable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DApp — Five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950976"/>
            <a:ext cx="132588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74320" y="9509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8778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🏠 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2252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role badge; products you own or manufactured; next-action hints per product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132588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6824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Register 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0299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name, batch, description, image upload; keccak256 hash → bytes32 CID on-chain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132588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/product/:id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Timeline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28346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header + QR code; role-gated action panel; immutable history with timestamps &amp; locations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132588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74320" y="33649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 QR Scan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36393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 via html5-qrcode; auto-navigates to Timeline; fallback manual ID entry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132588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74320" y="416966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096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44439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distribution chart; total products; active manufacturers; top-5 manufacturer 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integration: RainbowKit — MetaMask | WalletConnect | Coinbase Wallet | Rabby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Features: IPFS Pinning + QR Codes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IPFS-style Metadata Pinning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749040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metadata 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batch, desc, image, timestamp)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9AA7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3749040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 hash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(client-side)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9AA7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3749040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bytes32 CID stored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in metadataCID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224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VITE_WEB3_STORAGE_TOKEN → real IPFS pinning via web3.storage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9204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QR Code 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49047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8920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6672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generates unique QR code encoding /product/{id} URL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295144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8920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76672" y="22219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/scan page opens device camera (html5-qrcode library)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099816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8920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30266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decoded → auto-redirects to Timeline page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90448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8920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76672" y="38313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sees full provenance history from phone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manual product ID input on /scan page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Gas Costs — Solidity 0.8.26, optimizer 200 runs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registerProduct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267,281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287,757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269,666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shipToDistributor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136,274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136,298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136,277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receiveAsDistributor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131,232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shipToRetailer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119,360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119,384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119,364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receiveAsRetailer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112,714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209,933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132,158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markSold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111,572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3C5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grantRole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51,518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C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0416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spread on receive functions: empty signature (~114k gas) vs full ECDSA verify (~209k gas)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4434840"/>
            <a:ext cx="27432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365760" y="4453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1,861,706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4727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gas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82112" y="4434840"/>
            <a:ext cx="27432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3273552" y="4453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73552" y="4727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60M block limit</a:t>
            </a:r>
            <a:endParaRPr lang="en-US" sz="1000" dirty="0"/>
          </a:p>
        </p:txBody>
      </p:sp>
      <p:sp>
        <p:nvSpPr>
          <p:cNvPr id="4" name="Shape 9"/>
          <p:cNvSpPr/>
          <p:nvPr/>
        </p:nvSpPr>
        <p:spPr>
          <a:xfrm>
            <a:off x="6089904" y="4434840"/>
            <a:ext cx="27432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181344" y="4453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~$0.50–$2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81344" y="4727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state change (mainnet)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Testing: 32 Tests, 100% Line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6596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804672"/>
            <a:ext cx="196596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33172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3172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804672"/>
            <a:ext cx="196596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38912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8912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804672"/>
            <a:ext cx="196596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46520" y="8686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92.86%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5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npx hardhat test  |  npx hardhat coverage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8595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Categories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role setup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191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registration (valid, invalid role, ID monotonicity)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→ Distributor: transitions, ownership, nonce, role checks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receipt: valid sig, invalid sig, wrong signer, replay attack, empty sig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23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→ Retailer path (same pattern as above)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receipt &amp; markSold — signature variants, terminal state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191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traversal (all 6 state transitions in sequence)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functions: getProduct, getHistory, shipNonce, receiptDigest determinism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813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transition rejection — comprehensive reversion tests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Spec — Stretch Features Delivered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2618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11480" y="97840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950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IPFS-style Metadata Pinning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081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bytes32 CID stored on-chain; real web3.storage pinning optional via env var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206240" cy="12618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846320" y="97840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846320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950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QR Code per 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4081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Timeline page; scannable from phone camera; links to full provenance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206240" cy="12618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ECDSA Signed Receipts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2825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replay protection: nonce + chain ID + contract + product + context tag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258568"/>
            <a:ext cx="4206240" cy="12618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8463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Analytics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825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state distribution chart with progress bars; top-5 manufacturers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75888"/>
            <a:ext cx="4206240" cy="12618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11480" y="381304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114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785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 Demo Seed Script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42428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seedProducts.ts — 3 products at varied lifecycle stages ready for demo day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675888"/>
            <a:ext cx="4206240" cy="126187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4846320" y="381304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48463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785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 Security Test Script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42428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try-cheat.ts — 4 adversarial calls proving the contract correctly rejects them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Walkthrough (8 Minutes)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859536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74320" y="8595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859536"/>
            <a:ext cx="1051560" cy="347472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005840" y="8595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877824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Hardhat node → deploy contract → seed 3 demo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39596"/>
            <a:ext cx="8595360" cy="502920"/>
          </a:xfrm>
          <a:prstGeom prst="rect">
            <a:avLst/>
          </a:prstGeom>
          <a:solidFill>
            <a:srgbClr val="F5F9FC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74320" y="1394460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74320" y="13944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1394460"/>
            <a:ext cx="1051560" cy="347472"/>
          </a:xfrm>
          <a:prstGeom prst="rect">
            <a:avLst/>
          </a:prstGeom>
          <a:solidFill>
            <a:srgbClr val="4A6785"/>
          </a:solidFill>
          <a:ln w="12700">
            <a:solidFill>
              <a:srgbClr val="4A678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005840" y="13944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1412748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— explain 3 layers and 4 roles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74320" y="1929384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274320" y="19293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1929384"/>
            <a:ext cx="1051560" cy="347472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005840" y="192938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1947672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contract is live — point at address in DApp footer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409444"/>
            <a:ext cx="8595360" cy="502920"/>
          </a:xfrm>
          <a:prstGeom prst="rect">
            <a:avLst/>
          </a:prstGeom>
          <a:solidFill>
            <a:srgbClr val="F5F9FC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74320" y="2464308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74320" y="24643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" y="2464308"/>
            <a:ext cx="1051560" cy="347472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005840" y="246430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8840" y="2482596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wallet → /register → fill form → sign in MetaMask → confirmation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94436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274320" y="29992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05840" y="2999232"/>
            <a:ext cx="105156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1005840" y="29992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48840" y="3017520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/product/4 → Ship to Distributor → sign; switch wallet → Confirm receipt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479292"/>
            <a:ext cx="8595360" cy="502920"/>
          </a:xfrm>
          <a:prstGeom prst="rect">
            <a:avLst/>
          </a:prstGeom>
          <a:solidFill>
            <a:srgbClr val="F5F9FC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274320" y="3534156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274320" y="35341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5840" y="3534156"/>
            <a:ext cx="1051560" cy="347472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1005840" y="353415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48840" y="3552444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unauthorized action as Retailer — no actions visible; demonstrate revert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01421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274320" y="4069080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274320" y="40690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05840" y="4069080"/>
            <a:ext cx="1051560" cy="34747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1005840" y="4069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48840" y="4087368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printed QR on phone → Timeline opens with all 6 history entries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4549140"/>
            <a:ext cx="8595360" cy="502920"/>
          </a:xfrm>
          <a:prstGeom prst="rect">
            <a:avLst/>
          </a:prstGeom>
          <a:solidFill>
            <a:srgbClr val="F5F9FC"/>
          </a:solidFill>
          <a:ln w="12700">
            <a:solidFill>
              <a:srgbClr val="D1E0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274320" y="4604004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274320" y="46040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05840" y="4604004"/>
            <a:ext cx="1051560" cy="34747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1005840" y="46040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148840" y="4622292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/analytics → state distribution chart → return to slides for recap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" y="49834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Fallback: Pre-recorded backup video if Wi-Fi or MetaMask fails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0D1F3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47548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A  —  Smart Contract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Smart contract design &amp; NatSpec documentation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836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Slither static analysis (3 findings reviewed/fixed)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Security threat model &amp; design decisions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8288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475488"/>
          </a:xfrm>
          <a:prstGeom prst="rect">
            <a:avLst/>
          </a:prstGeom>
          <a:solidFill>
            <a:srgbClr val="1E5F8E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18888" y="91440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B  —  Testing &amp; Tooling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Hardhat tooling, 32-test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836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Coverage reports (100% line, 92.86% branch)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Gas reporter, deployment scripts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0D1F35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60520" cy="47548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84048" y="292608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C  —  React DApp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Wallet integration (wagmi + RainbowKit)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8953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Role-gating, Timeline page, action panel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297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QR scan page + Analytics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0D1F35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60520" cy="4754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818888" y="292608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D  —  Documentation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493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4 docs/ files: Architecture, State Machine, Role Matrix, Sepolia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953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Slide deck + demo script (8-minute walkthrough)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297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Presentation rehearsal &amp; backup video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Member A/B/C/D with actual names before submission.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1B3A5C">
              <a:alpha val="70000"/>
            </a:srgbClr>
          </a:solidFill>
          <a:ln w="254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1B3A5C">
              <a:alpha val="60000"/>
            </a:srgbClr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32104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66928" y="1042416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66928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969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3167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on-chain events; public verification without login, no APIs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832104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66928" y="1847088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66928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1773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21214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HistoryEntry array; no actor can rewrite past entries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832104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66928" y="265176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66928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2926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AccessControl; two-key gate enforced at EVM level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832104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1E5F8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566928" y="345643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66928" y="3456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C5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5568" y="3730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tests, 100% line coverage, Slither-clean, ECDSA replay-protected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224528"/>
            <a:ext cx="914400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274320" y="42245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0.8.26  |  Hardhat  |  React 19  |  wagmi v2  |  RainbowKit  |  TypeScript  |  TailwindCSS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274320" y="4636008"/>
            <a:ext cx="859536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1647</Words>
  <Application>Microsoft Office PowerPoint</Application>
  <PresentationFormat>On-screen Show (16:9)</PresentationFormat>
  <Paragraphs>326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SupplyChain DApp</dc:title>
  <dc:subject>PptxGenJS Presentation</dc:subject>
  <dc:creator>CY-326 / CS-411 Blockchain</dc:creator>
  <cp:lastModifiedBy>u2022568</cp:lastModifiedBy>
  <cp:revision>4</cp:revision>
  <dcterms:created xsi:type="dcterms:W3CDTF">2026-05-06T10:48:20Z</dcterms:created>
  <dcterms:modified xsi:type="dcterms:W3CDTF">2026-05-11T09:52:20Z</dcterms:modified>
</cp:coreProperties>
</file>