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9D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CY-326 / CS-411 BLOCKCHAIN  ·  SEMESTER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9202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SupplyChain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1097280" y="3108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09728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Provenance, custody, and trust on Ethereum.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97280" y="5029200"/>
            <a:ext cx="64008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5166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[Member 1]  ·  [Member 2]  ·  [Member 3]  ·  [Member 4]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55321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Submission: April 21,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off-chain supply chains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373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691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ledgers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Editable, forgeable, frequently lost.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063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3017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handoffs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429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 of who shipped what, when.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389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17320" y="4343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Single-party trust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4754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owns the database owns the truth.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49440" y="1737360"/>
            <a:ext cx="4846320" cy="411480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19202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D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23760" y="237744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Counterfeits.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Ship-and-deny disputes.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batches.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7223760" y="4297680"/>
            <a:ext cx="54864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443484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replace "trust the spreadsheet" with "verify the chain."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CY-326 / CS-411 Blockchain · SupplyChain DApp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817352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7919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2679192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Hardhat node for the demo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9272" y="1783080"/>
            <a:ext cx="267919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9272" y="1783080"/>
            <a:ext cx="2679192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3502152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02152" y="2331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02152" y="3017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0.8.26 + AccessControl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81344" y="1783080"/>
            <a:ext cx="267919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783080"/>
            <a:ext cx="2679192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6364224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64224" y="2331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DApp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64224" y="3017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UI · wagmi + RainbowKit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43416" y="1783080"/>
            <a:ext cx="267919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43416" y="1783080"/>
            <a:ext cx="2679192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9226296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26296" y="2331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states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226296" y="3017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→ Sold (linear)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operational roles, enforced on-chain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57200" y="4526280"/>
            <a:ext cx="3721608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663440"/>
            <a:ext cx="3721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1520" y="5212080"/>
            <a:ext cx="3172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products · ships to distributor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61688" y="4526280"/>
            <a:ext cx="3721608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4361688" y="4663440"/>
            <a:ext cx="3721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636008" y="5212080"/>
            <a:ext cx="3172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+ ships to retailer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66176" y="4526280"/>
            <a:ext cx="3721608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8266176" y="4663440"/>
            <a:ext cx="3721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540496" y="5212080"/>
            <a:ext cx="3172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+ marks sold to consumer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CY-326 / CS-411 Blockchain · SupplyChain DApp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817352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834640" y="1828800"/>
            <a:ext cx="886968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9202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· TypeScript · TailwindCSS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22860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Pages: Dashboard, Register, Timeline, Scan, Analytics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2743200"/>
            <a:ext cx="274320" cy="137160"/>
          </a:xfrm>
          <a:prstGeom prst="downArrow">
            <a:avLst/>
          </a:prstGeom>
          <a:solidFill>
            <a:srgbClr val="9DB4D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8036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8803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 glue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34640" y="2880360"/>
            <a:ext cx="886968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29718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wagmi v2 · viem · RainbowKit · TanStack Query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33375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for contract reads/writes, wallet UX, caching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52160" y="3794760"/>
            <a:ext cx="274320" cy="137160"/>
          </a:xfrm>
          <a:prstGeom prst="downArrow">
            <a:avLst/>
          </a:prstGeom>
          <a:solidFill>
            <a:srgbClr val="9DB4DE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93192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93192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834640" y="3931920"/>
            <a:ext cx="886968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40233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Hardhat node (live demo)  ·  Sepolia (optional polish)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17520" y="43891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eth_call / eth_sendRawTransaction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52160" y="4846320"/>
            <a:ext cx="274320" cy="137160"/>
          </a:xfrm>
          <a:prstGeom prst="downArrow">
            <a:avLst/>
          </a:prstGeom>
          <a:solidFill>
            <a:srgbClr val="9DB4DE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498348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9834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834640" y="4983480"/>
            <a:ext cx="886968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50749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0.8.26 · OpenZeppelin AccessControl + ECDSA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017520" y="54406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errors · indexed events · append-only history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CY-326 / CS-411 Blockchain · SupplyChain DApp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817352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LIFECYCLE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45236" y="182880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45236" y="18288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46804" y="2121408"/>
            <a:ext cx="237744" cy="182880"/>
          </a:xfrm>
          <a:prstGeom prst="rightArrow">
            <a:avLst/>
          </a:prstGeom>
          <a:solidFill>
            <a:srgbClr val="9DB4DE"/>
          </a:solidFill>
          <a:ln/>
        </p:spPr>
      </p:sp>
      <p:sp>
        <p:nvSpPr>
          <p:cNvPr id="7" name="Shape 5"/>
          <p:cNvSpPr/>
          <p:nvPr/>
        </p:nvSpPr>
        <p:spPr>
          <a:xfrm>
            <a:off x="4402836" y="182880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402836" y="18288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→ Distributor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04404" y="2121408"/>
            <a:ext cx="237744" cy="182880"/>
          </a:xfrm>
          <a:prstGeom prst="rightArrow">
            <a:avLst/>
          </a:prstGeom>
          <a:solidFill>
            <a:srgbClr val="9DB4DE"/>
          </a:solidFill>
          <a:ln/>
        </p:spPr>
      </p:sp>
      <p:sp>
        <p:nvSpPr>
          <p:cNvPr id="10" name="Shape 8"/>
          <p:cNvSpPr/>
          <p:nvPr/>
        </p:nvSpPr>
        <p:spPr>
          <a:xfrm>
            <a:off x="8060436" y="182880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18288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by Distributor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384280" y="2194560"/>
            <a:ext cx="0" cy="2240280"/>
          </a:xfrm>
          <a:prstGeom prst="line">
            <a:avLst/>
          </a:prstGeom>
          <a:noFill/>
          <a:ln w="25400">
            <a:solidFill>
              <a:srgbClr val="9DB4D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5236" y="406908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45236" y="40690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→ Retailer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46804" y="4361688"/>
            <a:ext cx="237744" cy="182880"/>
          </a:xfrm>
          <a:prstGeom prst="rightArrow">
            <a:avLst/>
          </a:prstGeom>
          <a:solidFill>
            <a:srgbClr val="9DB4DE"/>
          </a:solidFill>
          <a:ln/>
        </p:spPr>
      </p:sp>
      <p:sp>
        <p:nvSpPr>
          <p:cNvPr id="16" name="Shape 14"/>
          <p:cNvSpPr/>
          <p:nvPr/>
        </p:nvSpPr>
        <p:spPr>
          <a:xfrm>
            <a:off x="4402836" y="406908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402836" y="40690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by Retailer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04404" y="4361688"/>
            <a:ext cx="237744" cy="182880"/>
          </a:xfrm>
          <a:prstGeom prst="rightArrow">
            <a:avLst/>
          </a:prstGeom>
          <a:solidFill>
            <a:srgbClr val="9DB4DE"/>
          </a:solidFill>
          <a:ln/>
        </p:spPr>
      </p:sp>
      <p:sp>
        <p:nvSpPr>
          <p:cNvPr id="19" name="Shape 17"/>
          <p:cNvSpPr/>
          <p:nvPr/>
        </p:nvSpPr>
        <p:spPr>
          <a:xfrm>
            <a:off x="8060436" y="406908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8060436" y="40690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534924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406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transition emits an indexed event AND appends to the on-chain history array.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· append-only · enforced by _requireTransition. Sold is terminal.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CY-326 / CS-411 Blockchain · SupplyChain DApp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817352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ACCESS CONTROL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× function matrix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4552" cy="914400"/>
        </p:xfrm>
        <a:graphic>
          <a:graphicData uri="http://schemas.openxmlformats.org/drawingml/2006/table">
            <a:tbl>
              <a:tblPr/>
              <a:tblGrid>
                <a:gridCol w="2221992"/>
                <a:gridCol w="1508760"/>
                <a:gridCol w="1508760"/>
                <a:gridCol w="1508760"/>
                <a:gridCol w="1508760"/>
                <a:gridCol w="1508760"/>
                <a:gridCol w="15087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ship→Dist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receiveAsDist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ship→Retail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receiveAsRetail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93776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5029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Two-key check on every write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53949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gate (onlyRole) + ownership gate (currentOwner == msg.sender). Both must pass.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45352" y="493776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28232" y="5029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Recipient-side role enforcement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28232" y="53949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shipToX also checks the recipient holds the destination role — products can't "escape" the pipeline.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CY-326 / CS-411 Blockchain · SupplyChain DApp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817352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design decisions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01168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9476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errors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23317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than revert strings, self-documenting, machine-readable.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27648" y="17830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0528" y="201168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13448" y="19476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event params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13448" y="23317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Indexers can filter by productId or actor in O(log n).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33649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ECDSA signed receipts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37490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chainid + contract + product + receiver + nonce + context — replay-proof across legs.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27648" y="32004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0528" y="342900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13448" y="33649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history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13448" y="37490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function ever pops or mutates a prior entry — provable from source.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61772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84632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47823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Two-key check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43000" y="51663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ownership; rejects both 'wrong role' and 'stale owner' attacks.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27648" y="461772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10528" y="484632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510528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13448" y="47823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0.8.26 + cancun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13448" y="51663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overflow checks; latest stable EVM features.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CY-326 / CS-411 Blockchain · SupplyChain DApp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817352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TRADE-OFFS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deliberately did NOT include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109728" cy="12344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Pausable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0" y="1947672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calls and no value held — there is no exploit path to pause. Adding it adds gas and an admin foot-gun without benefit.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200400"/>
            <a:ext cx="109728" cy="12344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383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ReentrancyGuard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0" y="3364992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.call, no token transfers, no ether flows. Re-entrancy is structurally impossible.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61772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617720"/>
            <a:ext cx="109728" cy="12344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800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Upgradeability (proxy)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14800" y="4782312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 history must be immutable; an upgradeable contract can have its logic swapped, undermining that guarantee. If we find a bug, deploy v2 and migrate.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explain our choices, instead of importing everything."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CY-326 / CS-411 Blockchain · SupplyChain DApp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817352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&amp; static analysis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703320" cy="2194560"/>
          </a:xfrm>
          <a:prstGeom prst="roundRect">
            <a:avLst>
              <a:gd name="adj" fmla="val 416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2024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D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· every transition · every failure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0832" y="1783080"/>
            <a:ext cx="3703320" cy="2194560"/>
          </a:xfrm>
          <a:prstGeom prst="roundRect">
            <a:avLst>
              <a:gd name="adj" fmla="val 416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370832" y="192024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370832" y="28803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coverage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45152" y="32918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D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function · 92.86% branch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84464" y="1783080"/>
            <a:ext cx="3703320" cy="2194560"/>
          </a:xfrm>
          <a:prstGeom prst="roundRect">
            <a:avLst>
              <a:gd name="adj" fmla="val 416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84464" y="192024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8284464" y="28803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Slither H/M/L findings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58784" y="32918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D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informational, all dispositioned in README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251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report (hardhat-gas-reporter)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663440"/>
          <a:ext cx="1127455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331720"/>
                <a:gridCol w="3291840"/>
                <a:gridCol w="235915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gas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gas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269,666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shipToRetailer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119,364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shipToDistributor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136,277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receiveAsRetailer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132,158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receiveAsDistributor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131,232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111,572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CY-326 / CS-411 Blockchain · SupplyChain DApp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817352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BEYOND THE SPEC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features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5740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20574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metadata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Bytes32 digest of JSON+image stored on-chain; full content lives on IPFS. Tamper-evident without paying for storage.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7648" y="17830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01968" y="205740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01968" y="20574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99248" y="20574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lookup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01968" y="27432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product has a printable QR. /scan opens the device camera and deep-links to the timeline page.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25196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2519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ECDSA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28800" y="4251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receipts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49377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Receivers submit a shipper signature; the contract recovers and verifies it. Replay-proof across chains, contracts, products, legs, and re-shipments.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27648" y="397764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425196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601968" y="42519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99248" y="4251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view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01968" y="49377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State-distribution chart and top-manufacturers ranking, all derived from on-chain reads — no backend required.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CY-326 / CS-411 Blockchain · SupplyChain DApp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817352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about to see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3721608" cy="1554480"/>
          </a:xfrm>
          <a:prstGeom prst="roundRect">
            <a:avLst>
              <a:gd name="adj" fmla="val 4706"/>
            </a:avLst>
          </a:prstGeom>
          <a:solidFill>
            <a:srgbClr val="121845"/>
          </a:solidFill>
          <a:ln w="12700">
            <a:solidFill>
              <a:srgbClr val="9DB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registers a new product on-chain.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61688" y="2103120"/>
            <a:ext cx="3721608" cy="1554480"/>
          </a:xfrm>
          <a:prstGeom prst="roundRect">
            <a:avLst>
              <a:gd name="adj" fmla="val 4706"/>
            </a:avLst>
          </a:prstGeom>
          <a:solidFill>
            <a:srgbClr val="121845"/>
          </a:solidFill>
          <a:ln w="12700">
            <a:solidFill>
              <a:srgbClr val="9DB4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90288" y="2697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&amp; receive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0288" y="3063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it to the distributor, then on to the retailer.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66176" y="2103120"/>
            <a:ext cx="3721608" cy="1554480"/>
          </a:xfrm>
          <a:prstGeom prst="roundRect">
            <a:avLst>
              <a:gd name="adj" fmla="val 4706"/>
            </a:avLst>
          </a:prstGeom>
          <a:solidFill>
            <a:srgbClr val="121845"/>
          </a:solidFill>
          <a:ln w="12700">
            <a:solidFill>
              <a:srgbClr val="9DB4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94776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94776" y="2697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sold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94776" y="3063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closes the lifecycle.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3721608" cy="1554480"/>
          </a:xfrm>
          <a:prstGeom prst="roundRect">
            <a:avLst>
              <a:gd name="adj" fmla="val 4706"/>
            </a:avLst>
          </a:prstGeom>
          <a:solidFill>
            <a:srgbClr val="121845"/>
          </a:solidFill>
          <a:ln w="12700">
            <a:solidFill>
              <a:srgbClr val="9DB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069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5800" y="4480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break 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4846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wallet / wrong order — the chain rejects it.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61688" y="3886200"/>
            <a:ext cx="3721608" cy="1554480"/>
          </a:xfrm>
          <a:prstGeom prst="roundRect">
            <a:avLst>
              <a:gd name="adj" fmla="val 4706"/>
            </a:avLst>
          </a:prstGeom>
          <a:solidFill>
            <a:srgbClr val="121845"/>
          </a:solidFill>
          <a:ln w="12700">
            <a:solidFill>
              <a:srgbClr val="9DB4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0288" y="4069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90288" y="4480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QR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90288" y="4846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camera opens the timeline of a product.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66176" y="3886200"/>
            <a:ext cx="3721608" cy="1554480"/>
          </a:xfrm>
          <a:prstGeom prst="roundRect">
            <a:avLst>
              <a:gd name="adj" fmla="val 4706"/>
            </a:avLst>
          </a:prstGeom>
          <a:solidFill>
            <a:srgbClr val="121845"/>
          </a:solidFill>
          <a:ln w="12700">
            <a:solidFill>
              <a:srgbClr val="9DB4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94776" y="4069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494776" y="4480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chain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94776" y="4846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source, public state — anyone can verify.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D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video and local Hardhat fallback are both ready.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4688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4434840"/>
            <a:ext cx="64008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D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CY-326 / CS-411 Blockchain  ·  Spring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8229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1430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find this project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0" y="1920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2194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github.com/[username]/supply-chain-dapp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6974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2971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Hardhat node (chainId 31337)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34747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3749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  ·  docs/ARCHITECTURE.md  ·  docs/ROLE_MATRIX.md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4251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SCRIPT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4526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demo/demo-script.md  ·  demo/backup-demo.mp4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5532120"/>
            <a:ext cx="5303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56235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58978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1] · [Member 2] · [Member 3] · [Member 4]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SupplyChain DApp — CY-326 Semester Project</dc:title>
  <dc:subject>PptxGenJS Presentation</dc:subject>
  <dc:creator>Team Supply Chain</dc:creator>
  <cp:lastModifiedBy>Team Supply Chain</cp:lastModifiedBy>
  <cp:revision>1</cp:revision>
  <dcterms:created xsi:type="dcterms:W3CDTF">2026-04-22T17:37:28Z</dcterms:created>
  <dcterms:modified xsi:type="dcterms:W3CDTF">2026-04-22T17:37:28Z</dcterms:modified>
</cp:coreProperties>
</file>